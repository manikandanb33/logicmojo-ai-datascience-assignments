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206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1377355"/>
            <a:ext cx="79248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5400"/>
              </a:lnSpc>
              <a:buNone/>
            </a:pPr>
            <a:r>
              <a:rPr lang="en-US" sz="45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Forest Cover Type Classification</a:t>
            </a:r>
            <a:endParaRPr lang="en-US" sz="4500" dirty="0"/>
          </a:p>
        </p:txBody>
      </p:sp>
      <p:sp>
        <p:nvSpPr>
          <p:cNvPr id="3" name="Text 1"/>
          <p:cNvSpPr/>
          <p:nvPr/>
        </p:nvSpPr>
        <p:spPr>
          <a:xfrm>
            <a:off x="2261028" y="2901355"/>
            <a:ext cx="4621846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520"/>
              </a:lnSpc>
              <a:buNone/>
            </a:pPr>
            <a:r>
              <a:rPr lang="en-US" sz="18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Multi-class Classification with 7 Forest Types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2366987" y="3526135"/>
            <a:ext cx="4409926" cy="2400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890"/>
              </a:lnSpc>
              <a:buNone/>
            </a:pPr>
            <a:r>
              <a:rPr lang="en-US" sz="13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Machine Learning Project | Model Comparison &amp; Insights</a:t>
            </a:r>
            <a:endParaRPr lang="en-US" sz="13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609600"/>
            <a:ext cx="8083296" cy="4114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Project Overview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914400" y="1249660"/>
            <a:ext cx="7620000" cy="20000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b="1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Dataset:</a:t>
            </a:r>
            <a:pPr indent="0" marL="0">
              <a:lnSpc>
                <a:spcPts val="2430"/>
              </a:lnSpc>
              <a:buNone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UCI Forest Cover Type (581,012 samples, 54 features)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b="1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Target:</a:t>
            </a:r>
            <a:pPr indent="0" marL="0">
              <a:lnSpc>
                <a:spcPts val="2430"/>
              </a:lnSpc>
              <a:buNone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7 forest cover types (Spruce/Fir, Lodgepole Pine, Ponderosa Pine, etc.)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b="1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Features:</a:t>
            </a:r>
            <a:pPr indent="0" marL="0">
              <a:lnSpc>
                <a:spcPts val="2430"/>
              </a:lnSpc>
              <a:buNone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10 continuous variables + 44 binary (wilderness + soil types)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b="1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Challenge:</a:t>
            </a:r>
            <a:pPr indent="0" marL="0">
              <a:lnSpc>
                <a:spcPts val="2430"/>
              </a:lnSpc>
              <a:buNone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Multi-class imbalanced classification problem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b="1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Goal:</a:t>
            </a:r>
            <a:pPr indent="0" marL="0">
              <a:lnSpc>
                <a:spcPts val="2430"/>
              </a:lnSpc>
              <a:buNone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Build robust classifier with high accuracy and interpretability</a:t>
            </a:r>
            <a:endParaRPr lang="en-US" sz="13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1249661"/>
            <a:ext cx="7924800" cy="1721941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152400" dist="76200" dir="5400000">
              <a:srgbClr val="000000">
                <a:alpha val="20000"/>
              </a:srgbClr>
            </a:outerShdw>
          </a:effectLst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609600" y="3200202"/>
            <a:ext cx="7924800" cy="1721941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152400" dist="76200" dir="5400000">
              <a:srgbClr val="000000">
                <a:alpha val="20000"/>
              </a:srgbClr>
            </a:outerShdw>
          </a:effectLst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609600" y="609600"/>
            <a:ext cx="8083296" cy="4114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Exploratory Data Analysis (EDA)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914400" y="1554461"/>
            <a:ext cx="7461504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520"/>
              </a:lnSpc>
              <a:buNone/>
            </a:pPr>
            <a:r>
              <a:rPr lang="en-US" sz="21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Target Distribution</a:t>
            </a:r>
            <a:endParaRPr lang="en-US" sz="2100" dirty="0"/>
          </a:p>
        </p:txBody>
      </p:sp>
      <p:sp>
        <p:nvSpPr>
          <p:cNvPr id="6" name="Text 4"/>
          <p:cNvSpPr/>
          <p:nvPr/>
        </p:nvSpPr>
        <p:spPr>
          <a:xfrm>
            <a:off x="914400" y="2026841"/>
            <a:ext cx="7461504" cy="213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Cover Type 2 (Lodgepole Pine): ~48% of dataset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914400" y="2240161"/>
            <a:ext cx="7461504" cy="213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Classes 4-7: Minority classes (&lt;10% each)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914400" y="2453482"/>
            <a:ext cx="7461504" cy="213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Highly imbalanced - requires stratified sampling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914400" y="3505002"/>
            <a:ext cx="7461504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520"/>
              </a:lnSpc>
              <a:buNone/>
            </a:pPr>
            <a:r>
              <a:rPr lang="en-US" sz="21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Features</a:t>
            </a:r>
            <a:endParaRPr lang="en-US" sz="2100" dirty="0"/>
          </a:p>
        </p:txBody>
      </p:sp>
      <p:sp>
        <p:nvSpPr>
          <p:cNvPr id="10" name="Text 8"/>
          <p:cNvSpPr/>
          <p:nvPr/>
        </p:nvSpPr>
        <p:spPr>
          <a:xfrm>
            <a:off x="914400" y="3977383"/>
            <a:ext cx="7461504" cy="213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Elevation: Strong predictor (0-4000m)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914400" y="4190702"/>
            <a:ext cx="7461504" cy="213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Slope: Topographic influence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914400" y="4404023"/>
            <a:ext cx="7461504" cy="213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Distance to Hydrology: Proximity factor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609600"/>
            <a:ext cx="8083296" cy="4114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Preprocessing Strategy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914400" y="1249661"/>
            <a:ext cx="7620000" cy="20000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b="1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Train-Test Split:</a:t>
            </a:r>
            <a:pPr indent="0" marL="0">
              <a:lnSpc>
                <a:spcPts val="2430"/>
              </a:lnSpc>
              <a:buNone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80-20 stratified split (preserves class distribution)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b="1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Scaling:</a:t>
            </a:r>
            <a:pPr indent="0" marL="0">
              <a:lnSpc>
                <a:spcPts val="2430"/>
              </a:lnSpc>
              <a:buNone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StandardScaler for 10 continuous features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b="1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Feature Groups:</a:t>
            </a:r>
            <a:pPr indent="0" marL="0">
              <a:lnSpc>
                <a:spcPts val="2430"/>
              </a:lnSpc>
              <a:buNone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Continuous (scaled) + Binary (passthrough) using ColumnTransformer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b="1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Cross-Validation:</a:t>
            </a:r>
            <a:pPr indent="0" marL="0">
              <a:lnSpc>
                <a:spcPts val="2430"/>
              </a:lnSpc>
              <a:buNone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3-fold Stratified K-Fold for robust evaluation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b="1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Preprocessing Pipeline:</a:t>
            </a:r>
            <a:pPr indent="0" marL="0">
              <a:lnSpc>
                <a:spcPts val="2430"/>
              </a:lnSpc>
              <a:buNone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Integrated with models to prevent data leakage</a:t>
            </a:r>
            <a:endParaRPr lang="en-US" sz="13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609600"/>
            <a:ext cx="8083296" cy="4114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Models Evaluated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914400" y="1554461"/>
            <a:ext cx="7461504" cy="213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Linear Models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914400" y="1767780"/>
            <a:ext cx="7461504" cy="19188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12"/>
              </a:lnSpc>
              <a:buNone/>
            </a:pPr>
            <a:r>
              <a:rPr lang="en-US" sz="108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Logistic Regression (multinomial)</a:t>
            </a:r>
            <a:endParaRPr lang="en-US" sz="1080" dirty="0"/>
          </a:p>
        </p:txBody>
      </p:sp>
      <p:sp>
        <p:nvSpPr>
          <p:cNvPr id="5" name="Text 3"/>
          <p:cNvSpPr/>
          <p:nvPr/>
        </p:nvSpPr>
        <p:spPr>
          <a:xfrm>
            <a:off x="914400" y="2569271"/>
            <a:ext cx="7461504" cy="213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Tree-based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914400" y="2782591"/>
            <a:ext cx="7461504" cy="19188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12"/>
              </a:lnSpc>
              <a:buNone/>
            </a:pPr>
            <a:r>
              <a:rPr lang="en-US" sz="108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Decision Tree, Random Forest</a:t>
            </a:r>
            <a:endParaRPr lang="en-US" sz="1080" dirty="0"/>
          </a:p>
        </p:txBody>
      </p:sp>
      <p:sp>
        <p:nvSpPr>
          <p:cNvPr id="7" name="Text 5"/>
          <p:cNvSpPr/>
          <p:nvPr/>
        </p:nvSpPr>
        <p:spPr>
          <a:xfrm>
            <a:off x="914400" y="3584079"/>
            <a:ext cx="7461504" cy="213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Boosting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914400" y="3797401"/>
            <a:ext cx="7461504" cy="19188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12"/>
              </a:lnSpc>
              <a:buNone/>
            </a:pPr>
            <a:r>
              <a:rPr lang="en-US" sz="108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XGBoost, LightGBM</a:t>
            </a:r>
            <a:endParaRPr lang="en-US" sz="1080" dirty="0"/>
          </a:p>
        </p:txBody>
      </p:sp>
      <p:sp>
        <p:nvSpPr>
          <p:cNvPr id="9" name="Text 7"/>
          <p:cNvSpPr/>
          <p:nvPr/>
        </p:nvSpPr>
        <p:spPr>
          <a:xfrm>
            <a:off x="914400" y="4598889"/>
            <a:ext cx="7461504" cy="213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Neural Network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914400" y="4812209"/>
            <a:ext cx="7461504" cy="19188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12"/>
              </a:lnSpc>
              <a:buNone/>
            </a:pPr>
            <a:r>
              <a:rPr lang="en-US" sz="108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MLP (128-64 hidden layers)</a:t>
            </a:r>
            <a:endParaRPr lang="en-US" sz="108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609600"/>
            <a:ext cx="8083296" cy="4114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 Performance Summary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609600" y="1173461"/>
            <a:ext cx="8083296" cy="2026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96"/>
              </a:lnSpc>
              <a:buNone/>
            </a:pPr>
            <a:r>
              <a:rPr lang="en-US" sz="114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 Set Metrics (Accuracy, Precision, Recall, F1-Score):</a:t>
            </a:r>
            <a:endParaRPr lang="en-US" sz="1140" dirty="0"/>
          </a:p>
        </p:txBody>
      </p:sp>
      <p:sp>
        <p:nvSpPr>
          <p:cNvPr id="4" name="Text 2"/>
          <p:cNvSpPr/>
          <p:nvPr/>
        </p:nvSpPr>
        <p:spPr>
          <a:xfrm>
            <a:off x="914400" y="1528465"/>
            <a:ext cx="7620000" cy="182840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160"/>
              </a:lnSpc>
              <a:buSzPct val="100000"/>
              <a:buChar char="•"/>
            </a:pPr>
            <a:r>
              <a:rPr lang="en-US" sz="1200" b="1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XGBoost:</a:t>
            </a:r>
            <a:pPr indent="0" marL="0">
              <a:lnSpc>
                <a:spcPts val="2160"/>
              </a:lnSpc>
              <a:buNone/>
            </a:pPr>
            <a:r>
              <a:rPr lang="en-US" sz="1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~96% accuracy - Best performer, fast training</a:t>
            </a:r>
            <a:endParaRPr lang="en-US" sz="1200" dirty="0"/>
          </a:p>
          <a:p>
            <a:pPr marL="342900" indent="-342900">
              <a:lnSpc>
                <a:spcPts val="2160"/>
              </a:lnSpc>
              <a:buSzPct val="100000"/>
              <a:buChar char="•"/>
            </a:pPr>
            <a:r>
              <a:rPr lang="en-US" sz="1200" b="1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Random Forest (Tuned):</a:t>
            </a:r>
            <a:pPr indent="0" marL="0">
              <a:lnSpc>
                <a:spcPts val="2160"/>
              </a:lnSpc>
              <a:buNone/>
            </a:pPr>
            <a:r>
              <a:rPr lang="en-US" sz="1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~95% accuracy - Excellent balance, interpretable</a:t>
            </a:r>
            <a:endParaRPr lang="en-US" sz="1200" dirty="0"/>
          </a:p>
          <a:p>
            <a:pPr marL="342900" indent="-342900">
              <a:lnSpc>
                <a:spcPts val="2160"/>
              </a:lnSpc>
              <a:buSzPct val="100000"/>
              <a:buChar char="•"/>
            </a:pPr>
            <a:r>
              <a:rPr lang="en-US" sz="1200" b="1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LightGBM:</a:t>
            </a:r>
            <a:pPr indent="0" marL="0">
              <a:lnSpc>
                <a:spcPts val="2160"/>
              </a:lnSpc>
              <a:buNone/>
            </a:pPr>
            <a:r>
              <a:rPr lang="en-US" sz="1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~95% accuracy - Memory efficient, competitive</a:t>
            </a:r>
            <a:endParaRPr lang="en-US" sz="1200" dirty="0"/>
          </a:p>
          <a:p>
            <a:pPr marL="342900" indent="-342900">
              <a:lnSpc>
                <a:spcPts val="2160"/>
              </a:lnSpc>
              <a:buSzPct val="100000"/>
              <a:buChar char="•"/>
            </a:pPr>
            <a:r>
              <a:rPr lang="en-US" sz="1200" b="1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Neural Network (MLP):</a:t>
            </a:r>
            <a:pPr indent="0" marL="0">
              <a:lnSpc>
                <a:spcPts val="2160"/>
              </a:lnSpc>
              <a:buNone/>
            </a:pPr>
            <a:r>
              <a:rPr lang="en-US" sz="1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~90% accuracy - Decent performance</a:t>
            </a:r>
            <a:endParaRPr lang="en-US" sz="1200" dirty="0"/>
          </a:p>
          <a:p>
            <a:pPr marL="342900" indent="-342900">
              <a:lnSpc>
                <a:spcPts val="2160"/>
              </a:lnSpc>
              <a:buSzPct val="100000"/>
              <a:buChar char="•"/>
            </a:pPr>
            <a:r>
              <a:rPr lang="en-US" sz="1200" b="1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Logistic Regression:</a:t>
            </a:r>
            <a:pPr indent="0" marL="0">
              <a:lnSpc>
                <a:spcPts val="2160"/>
              </a:lnSpc>
              <a:buNone/>
            </a:pPr>
            <a:r>
              <a:rPr lang="en-US" sz="1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~85% accuracy - Baseline model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1249661"/>
            <a:ext cx="7924800" cy="2882603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152400" dist="76200" dir="5400000">
              <a:srgbClr val="000000">
                <a:alpha val="20000"/>
              </a:srgbClr>
            </a:outerShdw>
          </a:effectLst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609600" y="4360864"/>
            <a:ext cx="7924800" cy="185291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152400" dist="76200" dir="5400000">
              <a:srgbClr val="000000">
                <a:alpha val="20000"/>
              </a:srgbClr>
            </a:outerShdw>
          </a:effectLst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609600" y="609600"/>
            <a:ext cx="8083296" cy="4114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Hyperparameter Optimization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914400" y="1554461"/>
            <a:ext cx="7461504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520"/>
              </a:lnSpc>
              <a:buNone/>
            </a:pPr>
            <a:r>
              <a:rPr lang="en-US" sz="21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Random Forest Tuning</a:t>
            </a:r>
            <a:endParaRPr lang="en-US" sz="2100" dirty="0"/>
          </a:p>
        </p:txBody>
      </p:sp>
      <p:sp>
        <p:nvSpPr>
          <p:cNvPr id="6" name="Text 4"/>
          <p:cNvSpPr/>
          <p:nvPr/>
        </p:nvSpPr>
        <p:spPr>
          <a:xfrm>
            <a:off x="914400" y="2026841"/>
            <a:ext cx="7461504" cy="2026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96"/>
              </a:lnSpc>
              <a:buNone/>
            </a:pPr>
            <a:r>
              <a:rPr lang="en-US" sz="114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Parameters tuned:</a:t>
            </a:r>
            <a:endParaRPr lang="en-US" sz="1140" dirty="0"/>
          </a:p>
        </p:txBody>
      </p:sp>
      <p:sp>
        <p:nvSpPr>
          <p:cNvPr id="7" name="Text 5"/>
          <p:cNvSpPr/>
          <p:nvPr/>
        </p:nvSpPr>
        <p:spPr>
          <a:xfrm>
            <a:off x="1143000" y="2229445"/>
            <a:ext cx="7086600" cy="1329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1944"/>
              </a:lnSpc>
              <a:buSzPct val="100000"/>
              <a:buChar char="•"/>
            </a:pPr>
            <a:r>
              <a:rPr lang="en-US" sz="108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n_estimators: 200-400</a:t>
            </a:r>
            <a:endParaRPr lang="en-US" sz="1080" dirty="0"/>
          </a:p>
          <a:p>
            <a:pPr marL="342900" indent="-342900">
              <a:lnSpc>
                <a:spcPts val="1944"/>
              </a:lnSpc>
              <a:buSzPct val="100000"/>
              <a:buChar char="•"/>
            </a:pPr>
            <a:r>
              <a:rPr lang="en-US" sz="108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max_depth: None, 20, 40</a:t>
            </a:r>
            <a:endParaRPr lang="en-US" sz="1080" dirty="0"/>
          </a:p>
          <a:p>
            <a:pPr marL="342900" indent="-342900">
              <a:lnSpc>
                <a:spcPts val="1944"/>
              </a:lnSpc>
              <a:buSzPct val="100000"/>
              <a:buChar char="•"/>
            </a:pPr>
            <a:r>
              <a:rPr lang="en-US" sz="108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min_samples_split: 2-5</a:t>
            </a:r>
            <a:endParaRPr lang="en-US" sz="1080" dirty="0"/>
          </a:p>
          <a:p>
            <a:pPr marL="342900" indent="-342900">
              <a:lnSpc>
                <a:spcPts val="1944"/>
              </a:lnSpc>
              <a:buSzPct val="100000"/>
              <a:buChar char="•"/>
            </a:pPr>
            <a:r>
              <a:rPr lang="en-US" sz="108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min_samples_leaf: 1-2</a:t>
            </a:r>
            <a:endParaRPr lang="en-US" sz="1080" dirty="0"/>
          </a:p>
        </p:txBody>
      </p:sp>
      <p:sp>
        <p:nvSpPr>
          <p:cNvPr id="8" name="Text 6"/>
          <p:cNvSpPr/>
          <p:nvPr/>
        </p:nvSpPr>
        <p:spPr>
          <a:xfrm>
            <a:off x="914400" y="3635573"/>
            <a:ext cx="7461504" cy="19188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12"/>
              </a:lnSpc>
              <a:buNone/>
            </a:pPr>
            <a:r>
              <a:rPr lang="en-US" sz="108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RandomizedSearchCV (10 iterations)</a:t>
            </a:r>
            <a:endParaRPr lang="en-US" sz="1080" dirty="0"/>
          </a:p>
        </p:txBody>
      </p:sp>
      <p:sp>
        <p:nvSpPr>
          <p:cNvPr id="9" name="Text 7"/>
          <p:cNvSpPr/>
          <p:nvPr/>
        </p:nvSpPr>
        <p:spPr>
          <a:xfrm>
            <a:off x="914400" y="4665664"/>
            <a:ext cx="7461504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520"/>
              </a:lnSpc>
              <a:buNone/>
            </a:pPr>
            <a:r>
              <a:rPr lang="en-US" sz="21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Performance Gain</a:t>
            </a:r>
            <a:endParaRPr lang="en-US" sz="2100" dirty="0"/>
          </a:p>
        </p:txBody>
      </p:sp>
      <p:sp>
        <p:nvSpPr>
          <p:cNvPr id="10" name="Text 8"/>
          <p:cNvSpPr/>
          <p:nvPr/>
        </p:nvSpPr>
        <p:spPr>
          <a:xfrm>
            <a:off x="914400" y="5138045"/>
            <a:ext cx="7461504" cy="213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Train Accuracy:</a:t>
            </a:r>
            <a:pPr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99.5%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914400" y="5351364"/>
            <a:ext cx="7461504" cy="213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 Accuracy:</a:t>
            </a:r>
            <a:pPr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95.2%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914400" y="5717084"/>
            <a:ext cx="7461504" cy="19188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12"/>
              </a:lnSpc>
              <a:buNone/>
            </a:pPr>
            <a:r>
              <a:rPr lang="en-US" sz="108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Minimal overfitting; good generalization</a:t>
            </a:r>
            <a:endParaRPr lang="en-US" sz="108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609600"/>
            <a:ext cx="8083296" cy="4114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Feature Importance (Random Forest)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609600" y="1173461"/>
            <a:ext cx="8083296" cy="2026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96"/>
              </a:lnSpc>
              <a:buNone/>
            </a:pPr>
            <a:r>
              <a:rPr lang="en-US" sz="114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Most influential features for cover type prediction:</a:t>
            </a:r>
            <a:endParaRPr lang="en-US" sz="1140" dirty="0"/>
          </a:p>
        </p:txBody>
      </p:sp>
      <p:sp>
        <p:nvSpPr>
          <p:cNvPr id="4" name="Text 2"/>
          <p:cNvSpPr/>
          <p:nvPr/>
        </p:nvSpPr>
        <p:spPr>
          <a:xfrm>
            <a:off x="914400" y="1528465"/>
            <a:ext cx="7620000" cy="182840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160"/>
              </a:lnSpc>
              <a:buSzPct val="100000"/>
              <a:buChar char="•"/>
            </a:pPr>
            <a:r>
              <a:rPr lang="en-US" sz="1200" b="1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Elevation</a:t>
            </a:r>
            <a:pPr indent="0" marL="0">
              <a:lnSpc>
                <a:spcPts val="2160"/>
              </a:lnSpc>
              <a:buNone/>
            </a:pPr>
            <a:r>
              <a:rPr lang="en-US" sz="1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- Strongest predictor (altitude determines forest type)</a:t>
            </a:r>
            <a:endParaRPr lang="en-US" sz="1200" dirty="0"/>
          </a:p>
          <a:p>
            <a:pPr marL="342900" indent="-342900">
              <a:lnSpc>
                <a:spcPts val="2160"/>
              </a:lnSpc>
              <a:buSzPct val="100000"/>
              <a:buChar char="•"/>
            </a:pPr>
            <a:r>
              <a:rPr lang="en-US" sz="1200" b="1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Horizontal Distance to Hydrology</a:t>
            </a:r>
            <a:pPr indent="0" marL="0">
              <a:lnSpc>
                <a:spcPts val="2160"/>
              </a:lnSpc>
              <a:buNone/>
            </a:pPr>
            <a:r>
              <a:rPr lang="en-US" sz="1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- Proximity to water sources</a:t>
            </a:r>
            <a:endParaRPr lang="en-US" sz="1200" dirty="0"/>
          </a:p>
          <a:p>
            <a:pPr marL="342900" indent="-342900">
              <a:lnSpc>
                <a:spcPts val="2160"/>
              </a:lnSpc>
              <a:buSzPct val="100000"/>
              <a:buChar char="•"/>
            </a:pPr>
            <a:r>
              <a:rPr lang="en-US" sz="1200" b="1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Horizontal Distance to Roadways</a:t>
            </a:r>
            <a:pPr indent="0" marL="0">
              <a:lnSpc>
                <a:spcPts val="2160"/>
              </a:lnSpc>
              <a:buNone/>
            </a:pPr>
            <a:r>
              <a:rPr lang="en-US" sz="1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- Accessibility factor</a:t>
            </a:r>
            <a:endParaRPr lang="en-US" sz="1200" dirty="0"/>
          </a:p>
          <a:p>
            <a:pPr marL="342900" indent="-342900">
              <a:lnSpc>
                <a:spcPts val="2160"/>
              </a:lnSpc>
              <a:buSzPct val="100000"/>
              <a:buChar char="•"/>
            </a:pPr>
            <a:r>
              <a:rPr lang="en-US" sz="1200" b="1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Hillshade indices</a:t>
            </a:r>
            <a:pPr indent="0" marL="0">
              <a:lnSpc>
                <a:spcPts val="2160"/>
              </a:lnSpc>
              <a:buNone/>
            </a:pPr>
            <a:r>
              <a:rPr lang="en-US" sz="1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- Solar radiation &amp; terrain orientation</a:t>
            </a:r>
            <a:endParaRPr lang="en-US" sz="1200" dirty="0"/>
          </a:p>
          <a:p>
            <a:pPr marL="342900" indent="-342900">
              <a:lnSpc>
                <a:spcPts val="2160"/>
              </a:lnSpc>
              <a:buSzPct val="100000"/>
              <a:buChar char="•"/>
            </a:pPr>
            <a:r>
              <a:rPr lang="en-US" sz="1200" b="1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Aspect &amp; Slope</a:t>
            </a:r>
            <a:pPr indent="0" marL="0">
              <a:lnSpc>
                <a:spcPts val="2160"/>
              </a:lnSpc>
              <a:buNone/>
            </a:pPr>
            <a:r>
              <a:rPr lang="en-US" sz="1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- Topographic characteristics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09600" y="3509270"/>
            <a:ext cx="8083296" cy="1813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28"/>
              </a:lnSpc>
              <a:buNone/>
            </a:pPr>
            <a:r>
              <a:rPr lang="en-US" sz="102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RFE selected 25 most important features for dimensionality reduction</a:t>
            </a:r>
            <a:endParaRPr lang="en-US" sz="102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609600"/>
            <a:ext cx="8083296" cy="4114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Insights &amp; Recommendations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914400" y="1173463"/>
            <a:ext cx="7620000" cy="182840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160"/>
              </a:lnSpc>
              <a:buSzPct val="100000"/>
              <a:buChar char="•"/>
            </a:pPr>
            <a:r>
              <a:rPr lang="en-US" sz="1200" b="1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Boosting models (XGBoost) outperform</a:t>
            </a:r>
            <a:pPr indent="0" marL="0">
              <a:lnSpc>
                <a:spcPts val="2160"/>
              </a:lnSpc>
              <a:buNone/>
            </a:pPr>
            <a:r>
              <a:rPr lang="en-US" sz="1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- Sequential error correction is effective</a:t>
            </a:r>
            <a:endParaRPr lang="en-US" sz="1200" dirty="0"/>
          </a:p>
          <a:p>
            <a:pPr marL="342900" indent="-342900">
              <a:lnSpc>
                <a:spcPts val="2160"/>
              </a:lnSpc>
              <a:buSzPct val="100000"/>
              <a:buChar char="•"/>
            </a:pPr>
            <a:r>
              <a:rPr lang="en-US" sz="1200" b="1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Feature selection reduces complexity</a:t>
            </a:r>
            <a:pPr indent="0" marL="0">
              <a:lnSpc>
                <a:spcPts val="2160"/>
              </a:lnSpc>
              <a:buNone/>
            </a:pPr>
            <a:r>
              <a:rPr lang="en-US" sz="1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- 25 features capture 95%+ performance</a:t>
            </a:r>
            <a:endParaRPr lang="en-US" sz="1200" dirty="0"/>
          </a:p>
          <a:p>
            <a:pPr marL="342900" indent="-342900">
              <a:lnSpc>
                <a:spcPts val="2160"/>
              </a:lnSpc>
              <a:buSzPct val="100000"/>
              <a:buChar char="•"/>
            </a:pPr>
            <a:r>
              <a:rPr lang="en-US" sz="1200" b="1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Class imbalance impacts minority classes</a:t>
            </a:r>
            <a:pPr indent="0" marL="0">
              <a:lnSpc>
                <a:spcPts val="2160"/>
              </a:lnSpc>
              <a:buNone/>
            </a:pPr>
            <a:r>
              <a:rPr lang="en-US" sz="1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- Use weighted metrics, not just accuracy</a:t>
            </a:r>
            <a:endParaRPr lang="en-US" sz="1200" dirty="0"/>
          </a:p>
          <a:p>
            <a:pPr marL="342900" indent="-342900">
              <a:lnSpc>
                <a:spcPts val="2160"/>
              </a:lnSpc>
              <a:buSzPct val="100000"/>
              <a:buChar char="•"/>
            </a:pPr>
            <a:r>
              <a:rPr lang="en-US" sz="1200" b="1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Tuned Random Forest best for interpretability</a:t>
            </a:r>
            <a:pPr indent="0" marL="0">
              <a:lnSpc>
                <a:spcPts val="2160"/>
              </a:lnSpc>
              <a:buNone/>
            </a:pPr>
            <a:r>
              <a:rPr lang="en-US" sz="1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- Optimal accuracy + feature insights</a:t>
            </a:r>
            <a:endParaRPr lang="en-US" sz="1200" dirty="0"/>
          </a:p>
          <a:p>
            <a:pPr marL="342900" indent="-342900">
              <a:lnSpc>
                <a:spcPts val="2160"/>
              </a:lnSpc>
              <a:buSzPct val="100000"/>
              <a:buChar char="•"/>
            </a:pPr>
            <a:r>
              <a:rPr lang="en-US" sz="1200" b="1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significant overfitting</a:t>
            </a:r>
            <a:pPr indent="0" marL="0">
              <a:lnSpc>
                <a:spcPts val="2160"/>
              </a:lnSpc>
              <a:buNone/>
            </a:pPr>
            <a:r>
              <a:rPr lang="en-US" sz="1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- Train-test gap &lt; 5% indicates good generalization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206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19881" y="1384995"/>
            <a:ext cx="1904238" cy="4114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Conclusion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762000" y="2101258"/>
            <a:ext cx="7620000" cy="4800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90"/>
              </a:lnSpc>
              <a:buNone/>
            </a:pPr>
            <a:r>
              <a:rPr lang="en-US" sz="1350" b="1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Model Selection:</a:t>
            </a:r>
            <a:pPr algn="l" indent="0" marL="0">
              <a:lnSpc>
                <a:spcPts val="1890"/>
              </a:lnSpc>
              <a:buNone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Tuned Random Forest recommended for balance of accuracy and interpretability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762000" y="2733675"/>
            <a:ext cx="7772400" cy="2400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90"/>
              </a:lnSpc>
              <a:buNone/>
            </a:pPr>
            <a:r>
              <a:rPr lang="en-US" sz="1350" b="1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Performance:</a:t>
            </a:r>
            <a:pPr algn="l" indent="0" marL="0">
              <a:lnSpc>
                <a:spcPts val="1890"/>
              </a:lnSpc>
              <a:buNone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95%+ accuracy achievable with proper preprocessing and tuning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762000" y="3126088"/>
            <a:ext cx="7772400" cy="2400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90"/>
              </a:lnSpc>
              <a:buNone/>
            </a:pPr>
            <a:r>
              <a:rPr lang="en-US" sz="1350" b="1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Deployment:</a:t>
            </a:r>
            <a:pPr algn="l" indent="0" marL="0">
              <a:lnSpc>
                <a:spcPts val="1890"/>
              </a:lnSpc>
              <a:buNone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Ready for production - can be serialized with joblib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762000" y="3518497"/>
            <a:ext cx="7772400" cy="2400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90"/>
              </a:lnSpc>
              <a:buNone/>
            </a:pPr>
            <a:r>
              <a:rPr lang="en-US" sz="1350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 Steps:</a:t>
            </a:r>
            <a:pPr algn="l" indent="0" marL="0">
              <a:lnSpc>
                <a:spcPts val="1890"/>
              </a:lnSpc>
              <a:buNone/>
            </a:pPr>
            <a:r>
              <a:rPr lang="en-US" sz="13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Feature engineering, ensemble stacking, or deep learning exploration</a:t>
            </a:r>
            <a:endParaRPr lang="en-US" sz="13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Perplexity 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Converted Presentation</dc:title>
  <dc:subject>PptxGenJS Presentation</dc:subject>
  <dc:creator>Perplexity</dc:creator>
  <cp:lastModifiedBy>Perplexity</cp:lastModifiedBy>
  <cp:revision>1</cp:revision>
  <dcterms:created xsi:type="dcterms:W3CDTF">2025-12-21T13:19:16Z</dcterms:created>
  <dcterms:modified xsi:type="dcterms:W3CDTF">2025-12-21T13:19:16Z</dcterms:modified>
</cp:coreProperties>
</file>